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8"/>
  </p:notesMasterIdLst>
  <p:handoutMasterIdLst>
    <p:handoutMasterId r:id="rId9"/>
  </p:handoutMasterIdLst>
  <p:sldIdLst>
    <p:sldId id="256" r:id="rId2"/>
    <p:sldId id="274" r:id="rId3"/>
    <p:sldId id="268" r:id="rId4"/>
    <p:sldId id="275" r:id="rId5"/>
    <p:sldId id="276" r:id="rId6"/>
    <p:sldId id="277" r:id="rId7"/>
  </p:sldIdLst>
  <p:sldSz cx="13004800" cy="7315200"/>
  <p:notesSz cx="6797675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微軟正黑體" panose="020B0604030504040204" pitchFamily="34" charset="-120"/>
      <p:regular r:id="rId14"/>
      <p:bold r:id="rId15"/>
    </p:embeddedFont>
    <p:embeddedFont>
      <p:font typeface="微軟正黑體" panose="020B0604030504040204" pitchFamily="34" charset="-12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52200C-098F-4FBF-9D3C-37B20741CF04}">
  <a:tblStyle styleId="{A252200C-098F-4FBF-9D3C-37B20741CF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90A15F-577D-49C0-B1AA-B567E426B1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EDD017-D9CA-414B-96E5-8861317567E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41F51AA-F349-4263-9E12-D3A92FFDD70B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EF1C64-5AD9-436F-BBF7-057F97888011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42F9AC5-05F6-4D8C-952D-C2741F1072A9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9D8E239-9D58-4406-8D7D-11CCE4F7A3CC}" styleName="Table_6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598"/>
  </p:normalViewPr>
  <p:slideViewPr>
    <p:cSldViewPr snapToGrid="0">
      <p:cViewPr varScale="1">
        <p:scale>
          <a:sx n="101" d="100"/>
          <a:sy n="101" d="100"/>
        </p:scale>
        <p:origin x="852" y="96"/>
      </p:cViewPr>
      <p:guideLst>
        <p:guide orient="horz" pos="216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9" y="1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/>
          <a:lstStyle>
            <a:lvl1pPr algn="r">
              <a:defRPr sz="1200"/>
            </a:lvl1pPr>
          </a:lstStyle>
          <a:p>
            <a:fld id="{0FF8E37A-FA83-4A09-9EAE-3B483184EA3E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 anchor="b"/>
          <a:lstStyle>
            <a:lvl1pPr algn="r">
              <a:defRPr sz="1200"/>
            </a:lvl1pPr>
          </a:lstStyle>
          <a:p>
            <a:fld id="{8CFA3FEB-BAE0-4AEC-9C2F-E1BC17B713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633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9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/>
            <a:fld id="{00000000-1234-1234-1234-123412341234}" type="slidenum">
              <a:rPr lang="en-US" altLang="zh-TW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:notes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92" name="Google Shape;392;p1:notes"/>
          <p:cNvSpPr txBox="1">
            <a:spLocks noGrp="1"/>
          </p:cNvSpPr>
          <p:nvPr>
            <p:ph type="dt" idx="10"/>
          </p:nvPr>
        </p:nvSpPr>
        <p:spPr>
          <a:xfrm>
            <a:off x="3850449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r>
              <a:rPr lang="zh-TW"/>
              <a:t>2026/2/13</a:t>
            </a:r>
            <a:endParaRPr/>
          </a:p>
        </p:txBody>
      </p:sp>
      <p:sp>
        <p:nvSpPr>
          <p:cNvPr id="393" name="Google Shape;393;p1:notes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/>
            <a:fld id="{00000000-1234-1234-1234-123412341234}" type="slidenum">
              <a:rPr lang="en-US" altLang="zh-TW"/>
              <a:pPr algn="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7dad041c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525" y="1222375"/>
            <a:ext cx="5867400" cy="330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3c7dad041c8_2_0:notes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pPr marL="0" indent="0"/>
            <a:endParaRPr b="1"/>
          </a:p>
        </p:txBody>
      </p:sp>
      <p:sp>
        <p:nvSpPr>
          <p:cNvPr id="517" name="Google Shape;517;g3c7dad041c8_2_0:notes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>
              <a:buSzPts val="1300"/>
            </a:pPr>
            <a:fld id="{00000000-1234-1234-1234-123412341234}" type="slidenum">
              <a:rPr lang="en-US" altLang="zh-TW" sz="1300">
                <a:latin typeface="Calibri"/>
                <a:ea typeface="Calibri"/>
                <a:cs typeface="Calibri"/>
                <a:sym typeface="Calibri"/>
              </a:rPr>
              <a:pPr algn="r">
                <a:buSzPts val="1300"/>
              </a:pPr>
              <a:t>3</a:t>
            </a:fld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2903200" cy="73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85800" y="1066800"/>
            <a:ext cx="11531557" cy="127946"/>
          </a:xfrm>
          <a:custGeom>
            <a:avLst/>
            <a:gdLst/>
            <a:ahLst/>
            <a:cxnLst/>
            <a:rect l="l" t="t" r="r" b="b"/>
            <a:pathLst>
              <a:path w="11162411" h="101600" extrusionOk="0">
                <a:moveTo>
                  <a:pt x="0" y="0"/>
                </a:moveTo>
                <a:lnTo>
                  <a:pt x="11162411" y="0"/>
                </a:lnTo>
                <a:lnTo>
                  <a:pt x="11162411" y="101600"/>
                </a:lnTo>
                <a:lnTo>
                  <a:pt x="0" y="101600"/>
                </a:lnTo>
                <a:close/>
              </a:path>
            </a:pathLst>
          </a:custGeom>
          <a:gradFill>
            <a:gsLst>
              <a:gs pos="0">
                <a:srgbClr val="6666FF"/>
              </a:gs>
              <a:gs pos="50000">
                <a:srgbClr val="F1F1FF"/>
              </a:gs>
              <a:gs pos="100000">
                <a:srgbClr val="6666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963084" y="2906718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3"/>
          </p:nvPr>
        </p:nvSpPr>
        <p:spPr>
          <a:xfrm>
            <a:off x="6193370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2"/>
          </p:nvPr>
        </p:nvSpPr>
        <p:spPr>
          <a:xfrm>
            <a:off x="609603" y="1435100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4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-999" r="-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61"/>
          <p:cNvGrpSpPr/>
          <p:nvPr/>
        </p:nvGrpSpPr>
        <p:grpSpPr>
          <a:xfrm>
            <a:off x="3360393" y="3119124"/>
            <a:ext cx="8293989" cy="125254"/>
            <a:chOff x="0" y="0"/>
            <a:chExt cx="11058652" cy="167005"/>
          </a:xfrm>
        </p:grpSpPr>
        <p:sp>
          <p:nvSpPr>
            <p:cNvPr id="396" name="Google Shape;396;p61"/>
            <p:cNvSpPr/>
            <p:nvPr/>
          </p:nvSpPr>
          <p:spPr>
            <a:xfrm>
              <a:off x="6731" y="6731"/>
              <a:ext cx="6830060" cy="153543"/>
            </a:xfrm>
            <a:custGeom>
              <a:avLst/>
              <a:gdLst/>
              <a:ahLst/>
              <a:cxnLst/>
              <a:rect l="l" t="t" r="r" b="b"/>
              <a:pathLst>
                <a:path w="6830060" h="153543" extrusionOk="0">
                  <a:moveTo>
                    <a:pt x="0" y="0"/>
                  </a:moveTo>
                  <a:lnTo>
                    <a:pt x="6830060" y="0"/>
                  </a:lnTo>
                  <a:lnTo>
                    <a:pt x="6830060" y="153543"/>
                  </a:lnTo>
                  <a:lnTo>
                    <a:pt x="0" y="15354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FF"/>
                </a:gs>
                <a:gs pos="100000">
                  <a:srgbClr val="BEBE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7" name="Google Shape;397;p61"/>
            <p:cNvSpPr/>
            <p:nvPr/>
          </p:nvSpPr>
          <p:spPr>
            <a:xfrm>
              <a:off x="6731" y="6731"/>
              <a:ext cx="11051921" cy="0"/>
            </a:xfrm>
            <a:custGeom>
              <a:avLst/>
              <a:gdLst/>
              <a:ahLst/>
              <a:cxnLst/>
              <a:rect l="l" t="t" r="r" b="b"/>
              <a:pathLst>
                <a:path w="11051921" h="120000" extrusionOk="0">
                  <a:moveTo>
                    <a:pt x="0" y="0"/>
                  </a:moveTo>
                  <a:lnTo>
                    <a:pt x="11051921" y="0"/>
                  </a:lnTo>
                </a:path>
              </a:pathLst>
            </a:custGeom>
            <a:gradFill>
              <a:gsLst>
                <a:gs pos="0">
                  <a:srgbClr val="0000FF"/>
                </a:gs>
                <a:gs pos="100000">
                  <a:srgbClr val="BEBE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8" name="Google Shape;398;p61"/>
            <p:cNvSpPr/>
            <p:nvPr/>
          </p:nvSpPr>
          <p:spPr>
            <a:xfrm>
              <a:off x="0" y="0"/>
              <a:ext cx="6843522" cy="167005"/>
            </a:xfrm>
            <a:custGeom>
              <a:avLst/>
              <a:gdLst/>
              <a:ahLst/>
              <a:cxnLst/>
              <a:rect l="l" t="t" r="r" b="b"/>
              <a:pathLst>
                <a:path w="6843522" h="167005" extrusionOk="0">
                  <a:moveTo>
                    <a:pt x="6731" y="0"/>
                  </a:moveTo>
                  <a:lnTo>
                    <a:pt x="6836791" y="0"/>
                  </a:lnTo>
                  <a:cubicBezTo>
                    <a:pt x="6840474" y="0"/>
                    <a:pt x="6843522" y="3048"/>
                    <a:pt x="6843522" y="6731"/>
                  </a:cubicBezTo>
                  <a:lnTo>
                    <a:pt x="6843522" y="160274"/>
                  </a:lnTo>
                  <a:cubicBezTo>
                    <a:pt x="6843522" y="163957"/>
                    <a:pt x="6840474" y="167005"/>
                    <a:pt x="6836791" y="167005"/>
                  </a:cubicBezTo>
                  <a:lnTo>
                    <a:pt x="6731" y="167005"/>
                  </a:lnTo>
                  <a:cubicBezTo>
                    <a:pt x="3048" y="167005"/>
                    <a:pt x="0" y="163957"/>
                    <a:pt x="0" y="160274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60274"/>
                  </a:lnTo>
                  <a:lnTo>
                    <a:pt x="6731" y="160274"/>
                  </a:lnTo>
                  <a:lnTo>
                    <a:pt x="6731" y="153543"/>
                  </a:lnTo>
                  <a:lnTo>
                    <a:pt x="6836791" y="153543"/>
                  </a:lnTo>
                  <a:lnTo>
                    <a:pt x="6836791" y="160274"/>
                  </a:lnTo>
                  <a:lnTo>
                    <a:pt x="6830060" y="160274"/>
                  </a:lnTo>
                  <a:lnTo>
                    <a:pt x="6830060" y="6731"/>
                  </a:lnTo>
                  <a:lnTo>
                    <a:pt x="6836791" y="6731"/>
                  </a:lnTo>
                  <a:lnTo>
                    <a:pt x="68367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9" name="Google Shape;399;p61"/>
            <p:cNvSpPr/>
            <p:nvPr/>
          </p:nvSpPr>
          <p:spPr>
            <a:xfrm>
              <a:off x="6731" y="0"/>
              <a:ext cx="11051921" cy="13589"/>
            </a:xfrm>
            <a:custGeom>
              <a:avLst/>
              <a:gdLst/>
              <a:ahLst/>
              <a:cxnLst/>
              <a:rect l="l" t="t" r="r" b="b"/>
              <a:pathLst>
                <a:path w="11051921" h="13589" extrusionOk="0">
                  <a:moveTo>
                    <a:pt x="0" y="0"/>
                  </a:moveTo>
                  <a:lnTo>
                    <a:pt x="11051921" y="0"/>
                  </a:lnTo>
                  <a:lnTo>
                    <a:pt x="11051921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400" name="Google Shape;400;p61"/>
          <p:cNvSpPr txBox="1"/>
          <p:nvPr/>
        </p:nvSpPr>
        <p:spPr>
          <a:xfrm>
            <a:off x="3349375" y="3433190"/>
            <a:ext cx="9020425" cy="8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40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dirty="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4000" b="1" dirty="0">
              <a:solidFill>
                <a:srgbClr val="0053FA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1" name="Google Shape;401;p61"/>
          <p:cNvSpPr txBox="1"/>
          <p:nvPr/>
        </p:nvSpPr>
        <p:spPr>
          <a:xfrm>
            <a:off x="5926713" y="4243625"/>
            <a:ext cx="3596658" cy="55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日期：115年</a:t>
            </a:r>
            <a:r>
              <a:rPr lang="en-US" alt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3</a:t>
            </a: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月</a:t>
            </a:r>
            <a:r>
              <a:rPr lang="en-US" alt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25</a:t>
            </a: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日</a:t>
            </a:r>
            <a:endParaRPr sz="2800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403" name="Google Shape;403;p6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404" name="Google Shape;404;p61"/>
          <p:cNvSpPr txBox="1"/>
          <p:nvPr/>
        </p:nvSpPr>
        <p:spPr>
          <a:xfrm>
            <a:off x="3394259" y="990601"/>
            <a:ext cx="8656852" cy="20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57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altLang="en-US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加班費申請到出帳流程</a:t>
            </a:r>
            <a:r>
              <a:rPr lang="zh-TW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dirty="0"/>
          </a:p>
          <a:p>
            <a:pPr marL="0" marR="0" lvl="0" indent="0" algn="ctr" rtl="0">
              <a:lnSpc>
                <a:spcPct val="104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第一次優化會議</a:t>
            </a:r>
            <a:endParaRPr sz="5400" b="1" dirty="0">
              <a:solidFill>
                <a:srgbClr val="0035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241B70E-A75B-44E7-BFB0-FDBE3B224AC9}"/>
              </a:ext>
            </a:extLst>
          </p:cNvPr>
          <p:cNvSpPr txBox="1"/>
          <p:nvPr/>
        </p:nvSpPr>
        <p:spPr>
          <a:xfrm>
            <a:off x="5426223" y="3514117"/>
            <a:ext cx="4592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主持人：人事室 婁主任中雅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512C4-DDE1-4ABD-97EF-0A4F4898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議題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FE4D10B-AEA3-4C9A-9160-70181CCEB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D13A56-FF26-49A7-BC09-8F9116B0DFE1}"/>
              </a:ext>
            </a:extLst>
          </p:cNvPr>
          <p:cNvSpPr txBox="1"/>
          <p:nvPr/>
        </p:nvSpPr>
        <p:spPr>
          <a:xfrm flipH="1">
            <a:off x="489282" y="1540042"/>
            <a:ext cx="103271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TW" altLang="en-US" sz="4000" dirty="0"/>
              <a:t>「加班費申請到出帳流程」優化討論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5754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3"/>
          <p:cNvSpPr txBox="1"/>
          <p:nvPr/>
        </p:nvSpPr>
        <p:spPr>
          <a:xfrm>
            <a:off x="0" y="451260"/>
            <a:ext cx="13004800" cy="64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lvl="0" algn="ctr">
              <a:lnSpc>
                <a:spcPct val="105555"/>
              </a:lnSpc>
              <a:buClr>
                <a:srgbClr val="002060"/>
              </a:buClr>
              <a:buSzPts val="3600"/>
            </a:pPr>
            <a:r>
              <a:rPr lang="zh-TW" altLang="en-US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加班費申請到出帳流程 </a:t>
            </a:r>
            <a:r>
              <a:rPr lang="en-US" altLang="zh-TW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–</a:t>
            </a:r>
            <a:r>
              <a:rPr lang="zh-TW" altLang="en-US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總覽</a:t>
            </a: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5AD643A-44F5-47FD-B631-9EF39B366E68}"/>
              </a:ext>
            </a:extLst>
          </p:cNvPr>
          <p:cNvGrpSpPr/>
          <p:nvPr/>
        </p:nvGrpSpPr>
        <p:grpSpPr>
          <a:xfrm>
            <a:off x="-17546" y="1262302"/>
            <a:ext cx="13004800" cy="5815315"/>
            <a:chOff x="-17546" y="1262302"/>
            <a:chExt cx="13004800" cy="581531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0B36FE2-6EC8-473F-9B5F-01DF685793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4856" b="53036"/>
            <a:stretch/>
          </p:blipFill>
          <p:spPr>
            <a:xfrm>
              <a:off x="652379" y="1262302"/>
              <a:ext cx="11072813" cy="2209871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8D62A94-18F4-402B-BD61-39267AA189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52122"/>
            <a:stretch/>
          </p:blipFill>
          <p:spPr>
            <a:xfrm>
              <a:off x="-17546" y="5308116"/>
              <a:ext cx="13004800" cy="1769501"/>
            </a:xfrm>
            <a:prstGeom prst="rect">
              <a:avLst/>
            </a:prstGeom>
          </p:spPr>
        </p:pic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2687167-2561-4A0B-A755-385B13C6F27A}"/>
                </a:ext>
              </a:extLst>
            </p:cNvPr>
            <p:cNvCxnSpPr>
              <a:cxnSpLocks/>
            </p:cNvCxnSpPr>
            <p:nvPr/>
          </p:nvCxnSpPr>
          <p:spPr>
            <a:xfrm>
              <a:off x="11365505" y="3204649"/>
              <a:ext cx="0" cy="1872086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C8F4D08E-1749-48B5-8547-87395971B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0854" y="4055142"/>
              <a:ext cx="39052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FF06B852-65F3-4199-ACCE-2ED484D9459B}"/>
                </a:ext>
              </a:extLst>
            </p:cNvPr>
            <p:cNvCxnSpPr>
              <a:cxnSpLocks/>
            </p:cNvCxnSpPr>
            <p:nvPr/>
          </p:nvCxnSpPr>
          <p:spPr>
            <a:xfrm>
              <a:off x="2420853" y="4069849"/>
              <a:ext cx="0" cy="99802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350ED6E2-5D66-4A1E-9C69-0A481D824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4191" y="5067876"/>
              <a:ext cx="39052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922C9F1F-46DF-4851-B1FA-C4949D9E5DE6}"/>
                </a:ext>
              </a:extLst>
            </p:cNvPr>
            <p:cNvCxnSpPr>
              <a:cxnSpLocks/>
            </p:cNvCxnSpPr>
            <p:nvPr/>
          </p:nvCxnSpPr>
          <p:spPr>
            <a:xfrm>
              <a:off x="668254" y="5067876"/>
              <a:ext cx="0" cy="177809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3B288298-99D9-4E6C-9131-D6C269EE2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380" y="6845971"/>
              <a:ext cx="463549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A18770B-DA9F-FD84-D33A-FE58D830D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5821" b="51605"/>
            <a:stretch>
              <a:fillRect/>
            </a:stretch>
          </p:blipFill>
          <p:spPr>
            <a:xfrm>
              <a:off x="1477241" y="3432905"/>
              <a:ext cx="9206718" cy="1914481"/>
            </a:xfrm>
            <a:prstGeom prst="rect">
              <a:avLst/>
            </a:prstGeom>
          </p:spPr>
        </p:pic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98473B9A-FB27-4343-AA69-136EA69CA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379" y="5076735"/>
              <a:ext cx="268427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E161A6B-BBAD-0A65-C6D5-12562E3BE129}"/>
                </a:ext>
              </a:extLst>
            </p:cNvPr>
            <p:cNvSpPr/>
            <p:nvPr/>
          </p:nvSpPr>
          <p:spPr>
            <a:xfrm>
              <a:off x="10313918" y="4929809"/>
              <a:ext cx="370041" cy="288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B3D32E18-7B56-4457-AC4A-E2DF82A75C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014" y="5076735"/>
              <a:ext cx="1230491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BEA9B0B1-46D8-EBA4-1EF0-35F45669E897}"/>
                </a:ext>
              </a:extLst>
            </p:cNvPr>
            <p:cNvSpPr/>
            <p:nvPr/>
          </p:nvSpPr>
          <p:spPr>
            <a:xfrm rot="16200000">
              <a:off x="11088525" y="4923758"/>
              <a:ext cx="338013" cy="28823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5" name="三角形 14">
              <a:extLst>
                <a:ext uri="{FF2B5EF4-FFF2-40B4-BE49-F238E27FC236}">
                  <a16:creationId xmlns:a16="http://schemas.microsoft.com/office/drawing/2014/main" id="{3C470E98-BD82-F3BF-81F1-F967FB86F317}"/>
                </a:ext>
              </a:extLst>
            </p:cNvPr>
            <p:cNvSpPr/>
            <p:nvPr/>
          </p:nvSpPr>
          <p:spPr>
            <a:xfrm rot="10800000">
              <a:off x="482572" y="5073507"/>
              <a:ext cx="338013" cy="28823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6" name="三角形 15">
              <a:extLst>
                <a:ext uri="{FF2B5EF4-FFF2-40B4-BE49-F238E27FC236}">
                  <a16:creationId xmlns:a16="http://schemas.microsoft.com/office/drawing/2014/main" id="{7ED1A771-A4A8-98BD-4856-8831D57A1790}"/>
                </a:ext>
              </a:extLst>
            </p:cNvPr>
            <p:cNvSpPr/>
            <p:nvPr/>
          </p:nvSpPr>
          <p:spPr>
            <a:xfrm rot="5400000">
              <a:off x="639140" y="6701854"/>
              <a:ext cx="338013" cy="28823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sp>
        <p:nvSpPr>
          <p:cNvPr id="521" name="Google Shape;521;p73"/>
          <p:cNvSpPr txBox="1">
            <a:spLocks noGrp="1"/>
          </p:cNvSpPr>
          <p:nvPr>
            <p:ph type="sldNum" idx="12"/>
          </p:nvPr>
        </p:nvSpPr>
        <p:spPr>
          <a:xfrm>
            <a:off x="9990054" y="68950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5DDC1-45E4-4CFB-A167-B7A792BB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線上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537F25D-265A-40A5-9EE2-14E078237A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E177FA-51A9-4D65-8000-5BB97BEBED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329" b="52311"/>
          <a:stretch/>
        </p:blipFill>
        <p:spPr>
          <a:xfrm>
            <a:off x="0" y="1417638"/>
            <a:ext cx="12903393" cy="200260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A5F152E-6973-4BEE-803B-60ED3515553D}"/>
              </a:ext>
            </a:extLst>
          </p:cNvPr>
          <p:cNvSpPr txBox="1"/>
          <p:nvPr/>
        </p:nvSpPr>
        <p:spPr>
          <a:xfrm>
            <a:off x="1528011" y="3894958"/>
            <a:ext cx="760977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差勤管理資訊系統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線上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  <a:endParaRPr lang="zh-TW" altLang="en-US" sz="2400" b="1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人事差勤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表單申請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個人加班</a:t>
            </a:r>
            <a:r>
              <a:rPr lang="en-US" altLang="zh-TW" sz="2400" dirty="0"/>
              <a:t>(</a:t>
            </a:r>
            <a:r>
              <a:rPr lang="zh-TW" altLang="en-US" sz="2400" dirty="0"/>
              <a:t>費</a:t>
            </a:r>
            <a:r>
              <a:rPr lang="en-US" altLang="zh-TW" sz="2400" dirty="0"/>
              <a:t>)</a:t>
            </a:r>
            <a:r>
              <a:rPr lang="zh-TW" altLang="en-US" sz="2400" dirty="0"/>
              <a:t>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經過二級、一級主管核准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加班單成立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系統複查打卡紀錄</a:t>
            </a:r>
            <a:r>
              <a:rPr lang="en-US" altLang="zh-TW" sz="2400" dirty="0"/>
              <a:t>【</a:t>
            </a:r>
            <a:r>
              <a:rPr lang="zh-TW" altLang="en-US" sz="2400" dirty="0"/>
              <a:t>依據加班起訖時間、班表類型</a:t>
            </a:r>
            <a:r>
              <a:rPr lang="en-US" altLang="zh-TW" sz="2400" dirty="0"/>
              <a:t>】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802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CCFE0-80DD-497C-B110-641574FA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紙本公文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4B530A-2C0B-412C-92DE-30DB26837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5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43636B-BABF-4538-BF27-BEA181FA4D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856" b="53036"/>
          <a:stretch/>
        </p:blipFill>
        <p:spPr>
          <a:xfrm>
            <a:off x="134394" y="1798835"/>
            <a:ext cx="12870406" cy="256862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D91BC10-6D44-48E1-8589-A19A5EBB2832}"/>
              </a:ext>
            </a:extLst>
          </p:cNvPr>
          <p:cNvSpPr txBox="1"/>
          <p:nvPr/>
        </p:nvSpPr>
        <p:spPr>
          <a:xfrm>
            <a:off x="782054" y="4350874"/>
            <a:ext cx="724910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差勤管理資訊系統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  <a:endParaRPr lang="zh-TW" altLang="en-US" sz="2400" b="1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進入差勤管理資訊系統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單位加班費印領清冊 </a:t>
            </a:r>
            <a:r>
              <a:rPr lang="en-US" altLang="zh-TW" sz="2400" dirty="0"/>
              <a:t>/ </a:t>
            </a:r>
            <a:r>
              <a:rPr lang="zh-TW" altLang="en-US" sz="2400" dirty="0"/>
              <a:t>單位勞基法加班費印領清冊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個人加班</a:t>
            </a:r>
            <a:r>
              <a:rPr lang="en-US" altLang="zh-TW" sz="2400" dirty="0"/>
              <a:t>(</a:t>
            </a:r>
            <a:r>
              <a:rPr lang="zh-TW" altLang="en-US" sz="2400" dirty="0"/>
              <a:t>費</a:t>
            </a:r>
            <a:r>
              <a:rPr lang="en-US" altLang="zh-TW" sz="2400" dirty="0"/>
              <a:t>)</a:t>
            </a:r>
            <a:r>
              <a:rPr lang="zh-TW" altLang="en-US" sz="2400" dirty="0"/>
              <a:t>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印出加班費申請單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經過二級、一級主管簽核蓋章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人工審視、加上簽收憑證</a:t>
            </a:r>
          </a:p>
        </p:txBody>
      </p:sp>
    </p:spTree>
    <p:extLst>
      <p:ext uri="{BB962C8B-B14F-4D97-AF65-F5344CB8AC3E}">
        <p14:creationId xmlns:p14="http://schemas.microsoft.com/office/powerpoint/2010/main" val="105741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11580-11B1-4738-B93A-439BB32C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紙本公文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2F1ABB-CAEE-4957-8F7F-E9163B17AB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D6C1DD-B454-43EF-A978-770192011E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36" r="7113" b="52122"/>
          <a:stretch/>
        </p:blipFill>
        <p:spPr>
          <a:xfrm>
            <a:off x="0" y="1417638"/>
            <a:ext cx="13004800" cy="203039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0F2F505-4688-4F28-85F2-8C1705DA4CC4}"/>
              </a:ext>
            </a:extLst>
          </p:cNvPr>
          <p:cNvSpPr txBox="1"/>
          <p:nvPr/>
        </p:nvSpPr>
        <p:spPr>
          <a:xfrm>
            <a:off x="472961" y="3952690"/>
            <a:ext cx="32447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主計室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承辦人審核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主管核章</a:t>
            </a:r>
            <a:endParaRPr lang="en-US" altLang="zh-TW" sz="2400" dirty="0"/>
          </a:p>
          <a:p>
            <a:r>
              <a:rPr lang="en-US" altLang="zh-TW" sz="2400" dirty="0"/>
              <a:t>    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7C7D4D-8F32-48B0-B565-B1AEC1D180B0}"/>
              </a:ext>
            </a:extLst>
          </p:cNvPr>
          <p:cNvSpPr txBox="1"/>
          <p:nvPr/>
        </p:nvSpPr>
        <p:spPr>
          <a:xfrm>
            <a:off x="3789948" y="3952690"/>
            <a:ext cx="32447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院長室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院長室審核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主管核章</a:t>
            </a:r>
            <a:endParaRPr lang="en-US" altLang="zh-TW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DC169E0-05D7-4726-A72A-49ED290A7575}"/>
              </a:ext>
            </a:extLst>
          </p:cNvPr>
          <p:cNvSpPr txBox="1"/>
          <p:nvPr/>
        </p:nvSpPr>
        <p:spPr>
          <a:xfrm>
            <a:off x="7276205" y="3952690"/>
            <a:ext cx="52629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出納組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出納組鍵入個人加班費紀錄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目前僅有項目</a:t>
            </a:r>
            <a:r>
              <a:rPr lang="en-US" altLang="zh-TW" sz="2400" dirty="0"/>
              <a:t>9</a:t>
            </a:r>
            <a:r>
              <a:rPr lang="zh-TW" altLang="en-US" sz="2400" dirty="0"/>
              <a:t>，列出加班費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沒有額外欄位說明加班明細等附註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出帳</a:t>
            </a:r>
          </a:p>
        </p:txBody>
      </p:sp>
    </p:spTree>
    <p:extLst>
      <p:ext uri="{BB962C8B-B14F-4D97-AF65-F5344CB8AC3E}">
        <p14:creationId xmlns:p14="http://schemas.microsoft.com/office/powerpoint/2010/main" val="11097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247</Words>
  <Application>Microsoft Office PowerPoint</Application>
  <PresentationFormat>自訂</PresentationFormat>
  <Paragraphs>50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微軟正黑體</vt:lpstr>
      <vt:lpstr>Calibri</vt:lpstr>
      <vt:lpstr>Arial</vt:lpstr>
      <vt:lpstr>Office Theme</vt:lpstr>
      <vt:lpstr>PowerPoint 簡報</vt:lpstr>
      <vt:lpstr>議題</vt:lpstr>
      <vt:lpstr>PowerPoint 簡報</vt:lpstr>
      <vt:lpstr>個人加班費申請流程 (線上)</vt:lpstr>
      <vt:lpstr>個人加班費申請流程 (紙本公文)</vt:lpstr>
      <vt:lpstr>個人加班費申請流程 (紙本公文)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vghuser</dc:creator>
  <cp:lastModifiedBy>vghuser</cp:lastModifiedBy>
  <cp:revision>46</cp:revision>
  <cp:lastPrinted>2026-03-25T04:17:55Z</cp:lastPrinted>
  <dcterms:modified xsi:type="dcterms:W3CDTF">2026-03-25T07:54:37Z</dcterms:modified>
</cp:coreProperties>
</file>